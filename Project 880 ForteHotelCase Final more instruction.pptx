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themeOverride+xml" PartName="/ppt/theme/themeOverr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94A074-A34F-4530-AB18-F1466E46EB84}">
  <a:tblStyle styleId="{D194A074-A34F-4530-AB18-F1466E46EB84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2F7"/>
          </a:solidFill>
        </a:fill>
      </a:tcStyle>
    </a:wholeTbl>
    <a:band1H>
      <a:tcTxStyle/>
      <a:tcStyle>
        <a:fill>
          <a:solidFill>
            <a:srgbClr val="DCE5EE"/>
          </a:solidFill>
        </a:fill>
      </a:tcStyle>
    </a:band1H>
    <a:band2H>
      <a:tcTxStyle/>
    </a:band2H>
    <a:band1V>
      <a:tcTxStyle/>
      <a:tcStyle>
        <a:fill>
          <a:solidFill>
            <a:srgbClr val="DCE5EE"/>
          </a:solidFill>
        </a:fill>
      </a:tcStyle>
    </a:band1V>
    <a:band2V>
      <a:tcTxStyle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8" orient="horz"/>
        <p:guide pos="2208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50" spcFirstLastPara="1" rIns="95450" wrap="square" tIns="47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9" y="1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50" spcFirstLastPara="1" rIns="95450" wrap="square" tIns="477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2688" y="698500"/>
            <a:ext cx="4645025" cy="3484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50" spcFirstLastPara="1" rIns="95450" wrap="square" tIns="477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7725" lIns="95450" spcFirstLastPara="1" rIns="95450" wrap="square" tIns="47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7725" lIns="95450" spcFirstLastPara="1" rIns="95450" wrap="square" tIns="47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/>
          <p:nvPr>
            <p:ph idx="12" type="sldNum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7725" lIns="95450" spcFirstLastPara="1" rIns="95450" wrap="square" tIns="47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:notes"/>
          <p:cNvSpPr/>
          <p:nvPr>
            <p:ph idx="2" type="sldImg"/>
          </p:nvPr>
        </p:nvSpPr>
        <p:spPr>
          <a:xfrm>
            <a:off x="1182688" y="698500"/>
            <a:ext cx="4645025" cy="3484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50" spcFirstLastPara="1" rIns="95450" wrap="square" tIns="4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2" type="sldNum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7725" lIns="95450" spcFirstLastPara="1" rIns="95450" wrap="square" tIns="47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1182688" y="698500"/>
            <a:ext cx="4645025" cy="3484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50" spcFirstLastPara="1" rIns="95450" wrap="square" tIns="4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7725" lIns="95450" spcFirstLastPara="1" rIns="95450" wrap="square" tIns="47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82688" y="698500"/>
            <a:ext cx="4645025" cy="3484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7725" lIns="95450" spcFirstLastPara="1" rIns="95450" wrap="square" tIns="47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82688" y="698500"/>
            <a:ext cx="4645025" cy="3484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7725" lIns="95450" spcFirstLastPara="1" rIns="95450" wrap="square" tIns="47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82688" y="698500"/>
            <a:ext cx="4645025" cy="3484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7725" lIns="95450" spcFirstLastPara="1" rIns="95450" wrap="square" tIns="47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82688" y="698500"/>
            <a:ext cx="4645025" cy="3484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7725" lIns="95450" spcFirstLastPara="1" rIns="95450" wrap="square" tIns="47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82688" y="698500"/>
            <a:ext cx="4645025" cy="3484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7725" lIns="95450" spcFirstLastPara="1" rIns="95450" wrap="square" tIns="47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82688" y="698500"/>
            <a:ext cx="4645025" cy="3484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7725" lIns="95450" spcFirstLastPara="1" rIns="95450" wrap="square" tIns="47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82688" y="698500"/>
            <a:ext cx="4645025" cy="3484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E4DEDB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cap="non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76200" y="6069013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2085975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12648" y="1600200"/>
            <a:ext cx="8153400" cy="1936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20040" lvl="0" marL="457200" algn="l">
              <a:spcBef>
                <a:spcPts val="700"/>
              </a:spcBef>
              <a:spcAft>
                <a:spcPts val="0"/>
              </a:spcAft>
              <a:buSzPts val="1440"/>
              <a:buChar char="◻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spcBef>
                <a:spcPts val="550"/>
              </a:spcBef>
              <a:spcAft>
                <a:spcPts val="0"/>
              </a:spcAft>
              <a:buSzPts val="1400"/>
              <a:buChar char="🞑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spcBef>
                <a:spcPts val="500"/>
              </a:spcBef>
              <a:spcAft>
                <a:spcPts val="0"/>
              </a:spcAft>
              <a:buSzPts val="1500"/>
              <a:buChar char="■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1" type="ftr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E4DEDB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cap="non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76200" y="6069013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2085975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 rotWithShape="1">
          <a:blip r:embed="rId2">
            <a:alphaModFix/>
          </a:blip>
          <a:tile algn="tl" flip="none" tx="0" sx="100000" ty="0" sy="100000"/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1371600" y="2743200"/>
            <a:ext cx="7123113" cy="167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1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type="title"/>
          </p:nvPr>
        </p:nvSpPr>
        <p:spPr>
          <a:xfrm>
            <a:off x="1371600" y="1600200"/>
            <a:ext cx="7620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 b="0" sz="4400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1" type="ftr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/>
        </p:nvSpPr>
        <p:spPr>
          <a:xfrm>
            <a:off x="8610600" y="6477000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" type="body"/>
          </p:nvPr>
        </p:nvSpPr>
        <p:spPr>
          <a:xfrm>
            <a:off x="609600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20040" lvl="0" marL="457200" algn="l">
              <a:spcBef>
                <a:spcPts val="700"/>
              </a:spcBef>
              <a:spcAft>
                <a:spcPts val="0"/>
              </a:spcAft>
              <a:buSzPts val="1440"/>
              <a:buChar char="◻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spcBef>
                <a:spcPts val="550"/>
              </a:spcBef>
              <a:spcAft>
                <a:spcPts val="0"/>
              </a:spcAft>
              <a:buSzPts val="1400"/>
              <a:buChar char="🞑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spcBef>
                <a:spcPts val="500"/>
              </a:spcBef>
              <a:spcAft>
                <a:spcPts val="0"/>
              </a:spcAft>
              <a:buSzPts val="1500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2" type="body"/>
          </p:nvPr>
        </p:nvSpPr>
        <p:spPr>
          <a:xfrm>
            <a:off x="4844901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20040" lvl="0" marL="457200" algn="l">
              <a:spcBef>
                <a:spcPts val="700"/>
              </a:spcBef>
              <a:spcAft>
                <a:spcPts val="0"/>
              </a:spcAft>
              <a:buSzPts val="1440"/>
              <a:buChar char="◻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spcBef>
                <a:spcPts val="550"/>
              </a:spcBef>
              <a:spcAft>
                <a:spcPts val="0"/>
              </a:spcAft>
              <a:buSzPts val="1400"/>
              <a:buChar char="🞑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spcBef>
                <a:spcPts val="500"/>
              </a:spcBef>
              <a:spcAft>
                <a:spcPts val="0"/>
              </a:spcAft>
              <a:buSzPts val="1500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7"/>
          <p:cNvSpPr txBox="1"/>
          <p:nvPr>
            <p:ph idx="11" type="ftr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533400" y="273050"/>
            <a:ext cx="81534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" type="body"/>
          </p:nvPr>
        </p:nvSpPr>
        <p:spPr>
          <a:xfrm>
            <a:off x="609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2" type="body"/>
          </p:nvPr>
        </p:nvSpPr>
        <p:spPr>
          <a:xfrm>
            <a:off x="4800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3" type="body"/>
          </p:nvPr>
        </p:nvSpPr>
        <p:spPr>
          <a:xfrm>
            <a:off x="609600" y="1752600"/>
            <a:ext cx="388620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200"/>
              <a:buFont typeface="Arial"/>
              <a:buNone/>
              <a:defRPr b="1" sz="2000">
                <a:solidFill>
                  <a:srgbClr val="FFFFFF"/>
                </a:solidFill>
              </a:defRPr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4" type="body"/>
          </p:nvPr>
        </p:nvSpPr>
        <p:spPr>
          <a:xfrm>
            <a:off x="4800600" y="1752600"/>
            <a:ext cx="3886200" cy="64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200"/>
              <a:buFont typeface="Arial"/>
              <a:buNone/>
              <a:defRPr b="1" sz="2000">
                <a:solidFill>
                  <a:srgbClr val="FFFFFF"/>
                </a:solidFill>
              </a:defRPr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2" type="sldNum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1" type="ftr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2" type="sldNum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1" type="ftr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0" y="62484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type="title"/>
          </p:nvPr>
        </p:nvSpPr>
        <p:spPr>
          <a:xfrm>
            <a:off x="609600" y="273050"/>
            <a:ext cx="80772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sz="4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609600" y="1752600"/>
            <a:ext cx="1600200" cy="4343400"/>
          </a:xfrm>
          <a:prstGeom prst="rect">
            <a:avLst/>
          </a:prstGeom>
          <a:solidFill>
            <a:schemeClr val="accent2"/>
          </a:solidFill>
          <a:ln cap="sq" cmpd="dbl" w="508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182875">
            <a:sp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2" type="body"/>
          </p:nvPr>
        </p:nvSpPr>
        <p:spPr>
          <a:xfrm>
            <a:off x="2362200" y="1752600"/>
            <a:ext cx="6400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1" type="ftr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blipFill rotWithShape="1">
          <a:blip r:embed="rId2">
            <a:alphaModFix/>
          </a:blip>
          <a:tile algn="tl" flip="none" tx="0" sx="100000" ty="0" sy="100000"/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2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2"/>
          <p:cNvSpPr/>
          <p:nvPr/>
        </p:nvSpPr>
        <p:spPr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1600200" y="5486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020"/>
              <a:buFont typeface="Arial"/>
              <a:buNone/>
              <a:defRPr sz="1700"/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840"/>
              <a:buFont typeface="Arial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50"/>
              <a:buFont typeface="Arial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75"/>
              <a:buFont typeface="Arial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585"/>
              <a:buFont typeface="Arial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type="title"/>
          </p:nvPr>
        </p:nvSpPr>
        <p:spPr>
          <a:xfrm>
            <a:off x="1600200" y="4648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/>
          <p:nvPr>
            <p:ph idx="2" type="pic"/>
          </p:nvPr>
        </p:nvSpPr>
        <p:spPr>
          <a:xfrm>
            <a:off x="1560576" y="0"/>
            <a:ext cx="7583424" cy="4568952"/>
          </a:xfrm>
          <a:prstGeom prst="rect">
            <a:avLst/>
          </a:prstGeom>
          <a:solidFill>
            <a:srgbClr val="DCE5EE"/>
          </a:solidFill>
          <a:ln>
            <a:noFill/>
          </a:ln>
        </p:spPr>
      </p:sp>
      <p:sp>
        <p:nvSpPr>
          <p:cNvPr id="99" name="Google Shape;99;p12"/>
          <p:cNvSpPr txBox="1"/>
          <p:nvPr>
            <p:ph idx="10" type="dt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0" y="4667250"/>
            <a:ext cx="1447800" cy="66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1600200" y="62484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" type="body"/>
          </p:nvPr>
        </p:nvSpPr>
        <p:spPr>
          <a:xfrm rot="5400000">
            <a:off x="3721261" y="-1508286"/>
            <a:ext cx="1936428" cy="8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1" type="ftr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>
            <p:ph type="title"/>
          </p:nvPr>
        </p:nvSpPr>
        <p:spPr>
          <a:xfrm rot="5400000">
            <a:off x="4823619" y="2339182"/>
            <a:ext cx="55165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 rot="5400000">
            <a:off x="480218" y="586582"/>
            <a:ext cx="5516564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10" type="dt"/>
          </p:nvPr>
        </p:nvSpPr>
        <p:spPr>
          <a:xfrm>
            <a:off x="6553200" y="6248400"/>
            <a:ext cx="2209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11" type="ftr"/>
          </p:nvPr>
        </p:nvSpPr>
        <p:spPr>
          <a:xfrm>
            <a:off x="457200" y="6248400"/>
            <a:ext cx="55737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2" type="sldNum"/>
          </p:nvPr>
        </p:nvSpPr>
        <p:spPr>
          <a:xfrm rot="5400000">
            <a:off x="5989638" y="144462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idx="11" type="ftr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2" type="sldNum"/>
          </p:nvPr>
        </p:nvSpPr>
        <p:spPr>
          <a:xfrm>
            <a:off x="8610600" y="6477000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12775" y="1600200"/>
            <a:ext cx="8153400" cy="1936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2004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🞑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A5AB81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D8B25C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/>
          <p:nvPr/>
        </p:nvSpPr>
        <p:spPr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610600" y="6477000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612775" y="1600200"/>
            <a:ext cx="8153400" cy="1936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2004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A5AB81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D8B25C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/>
          <p:nvPr/>
        </p:nvSpPr>
        <p:spPr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8610600" y="6477000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ctrTitle"/>
          </p:nvPr>
        </p:nvSpPr>
        <p:spPr>
          <a:xfrm>
            <a:off x="762000" y="1295400"/>
            <a:ext cx="7772400" cy="29468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 cap="none">
                <a:solidFill>
                  <a:schemeClr val="dk1"/>
                </a:solidFill>
              </a:rPr>
            </a:br>
            <a:r>
              <a:rPr lang="en-US" cap="none">
                <a:solidFill>
                  <a:schemeClr val="dk1"/>
                </a:solidFill>
              </a:rPr>
              <a:t>Applied Marketing Analytics</a:t>
            </a:r>
            <a:br>
              <a:rPr lang="en-US" cap="none">
                <a:solidFill>
                  <a:schemeClr val="dk1"/>
                </a:solidFill>
              </a:rPr>
            </a:br>
            <a:br>
              <a:rPr lang="en-US" cap="none">
                <a:solidFill>
                  <a:schemeClr val="dk1"/>
                </a:solidFill>
              </a:rPr>
            </a:br>
            <a:br>
              <a:rPr lang="en-US" cap="none">
                <a:solidFill>
                  <a:schemeClr val="dk1"/>
                </a:solidFill>
              </a:rPr>
            </a:br>
            <a:r>
              <a:rPr lang="en-US" cap="none">
                <a:solidFill>
                  <a:schemeClr val="dk1"/>
                </a:solidFill>
              </a:rPr>
              <a:t>Project Assignment:</a:t>
            </a:r>
            <a:br>
              <a:rPr lang="en-US" cap="none">
                <a:solidFill>
                  <a:schemeClr val="dk1"/>
                </a:solidFill>
              </a:rPr>
            </a:br>
            <a:r>
              <a:rPr lang="en-US" cap="none">
                <a:solidFill>
                  <a:schemeClr val="dk1"/>
                </a:solidFill>
              </a:rPr>
              <a:t>Forte Hotel Case</a:t>
            </a:r>
            <a:br>
              <a:rPr lang="en-US" cap="none">
                <a:solidFill>
                  <a:schemeClr val="dk1"/>
                </a:solidFill>
              </a:rPr>
            </a:br>
            <a:br>
              <a:rPr lang="en-US" cap="none">
                <a:solidFill>
                  <a:schemeClr val="dk1"/>
                </a:solidFill>
              </a:rPr>
            </a:br>
            <a:endParaRPr b="0" sz="2800">
              <a:solidFill>
                <a:schemeClr val="dk1"/>
              </a:solidFill>
            </a:endParaRPr>
          </a:p>
        </p:txBody>
      </p:sp>
      <p:sp>
        <p:nvSpPr>
          <p:cNvPr id="127" name="Google Shape;127;p16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rPr b="1" lang="en-US"/>
              <a:t>Professor Jaebeom Suh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16571" y="6172200"/>
            <a:ext cx="14382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MKTG </a:t>
            </a:r>
            <a:r>
              <a:rPr b="1" lang="en-US" sz="2000">
                <a:solidFill>
                  <a:schemeClr val="lt1"/>
                </a:solidFill>
              </a:rPr>
              <a:t>8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990600" y="38100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Forte Hotel Design Case and Data</a:t>
            </a:r>
            <a:endParaRPr baseline="30000"/>
          </a:p>
        </p:txBody>
      </p:sp>
      <p:sp>
        <p:nvSpPr>
          <p:cNvPr id="135" name="Google Shape;135;p17"/>
          <p:cNvSpPr txBox="1"/>
          <p:nvPr/>
        </p:nvSpPr>
        <p:spPr>
          <a:xfrm>
            <a:off x="838200" y="1828800"/>
            <a:ext cx="7315200" cy="300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6075" lvl="0" marL="346075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✧"/>
            </a:pP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Forte Hotel Design Case (Conjoint).pdf</a:t>
            </a:r>
            <a:endParaRPr/>
          </a:p>
          <a:p>
            <a:pPr indent="-346075" lvl="0" marL="346075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✧"/>
            </a:pP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Forte Hotel Data (Conjoint, 1 Ratings).xls</a:t>
            </a:r>
            <a:endParaRPr/>
          </a:p>
          <a:p>
            <a:pPr indent="-346075" lvl="0" marL="346075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✧"/>
            </a:pP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Forte Hotel Data (Conjoint, 2 Partworths).xls</a:t>
            </a:r>
            <a:endParaRPr/>
          </a:p>
          <a:p>
            <a:pPr indent="-346075" lvl="0" marL="346075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✧"/>
            </a:pP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Forte Hotel Data (Conjoint, 3 Analysis).xls</a:t>
            </a:r>
            <a:endParaRPr/>
          </a:p>
          <a:p>
            <a:pPr indent="-186055" lvl="0" marL="346075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None/>
            </a:pPr>
            <a:r>
              <a:t/>
            </a:r>
            <a:endParaRPr sz="2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Things to Do</a:t>
            </a:r>
            <a:endParaRPr/>
          </a:p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612648" y="1600200"/>
            <a:ext cx="8153400" cy="2223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1440"/>
              <a:buFont typeface="Twentieth Century"/>
              <a:buAutoNum type="arabicPeriod"/>
            </a:pPr>
            <a:r>
              <a:rPr lang="en-US"/>
              <a:t>Develop a Survey Questionnaire</a:t>
            </a:r>
            <a:endParaRPr/>
          </a:p>
          <a:p>
            <a:pPr indent="-457200" lvl="0" marL="457200" rtl="0" algn="l">
              <a:spcBef>
                <a:spcPts val="700"/>
              </a:spcBef>
              <a:spcAft>
                <a:spcPts val="0"/>
              </a:spcAft>
              <a:buSzPts val="1440"/>
              <a:buFont typeface="Twentieth Century"/>
              <a:buAutoNum type="arabicPeriod"/>
            </a:pPr>
            <a:r>
              <a:rPr lang="en-US"/>
              <a:t>Data Setup for R Conjoint Analysis</a:t>
            </a:r>
            <a:endParaRPr/>
          </a:p>
          <a:p>
            <a:pPr indent="-457200" lvl="0" marL="457200" rtl="0" algn="l">
              <a:spcBef>
                <a:spcPts val="700"/>
              </a:spcBef>
              <a:spcAft>
                <a:spcPts val="0"/>
              </a:spcAft>
              <a:buSzPts val="1440"/>
              <a:buFont typeface="Twentieth Century"/>
              <a:buAutoNum type="arabicPeriod"/>
            </a:pPr>
            <a:r>
              <a:rPr lang="en-US"/>
              <a:t>Conjoint Analysis Using R and Rmarkdown</a:t>
            </a:r>
            <a:endParaRPr/>
          </a:p>
          <a:p>
            <a:pPr indent="-457200" lvl="0" marL="457200" rtl="0" algn="l">
              <a:spcBef>
                <a:spcPts val="700"/>
              </a:spcBef>
              <a:spcAft>
                <a:spcPts val="0"/>
              </a:spcAft>
              <a:buSzPts val="1440"/>
              <a:buFont typeface="Twentieth Century"/>
              <a:buAutoNum type="arabicPeriod"/>
            </a:pPr>
            <a:r>
              <a:rPr lang="en-US"/>
              <a:t>Market Share Simulation</a:t>
            </a:r>
            <a:endParaRPr/>
          </a:p>
          <a:p>
            <a:pPr indent="-184150" lvl="1" marL="63976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Developing Questionnaire</a:t>
            </a:r>
            <a:endParaRPr/>
          </a:p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612648" y="1600200"/>
            <a:ext cx="8153400" cy="3757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9088" lvl="0" marL="319088" rtl="0" algn="l">
              <a:spcBef>
                <a:spcPts val="0"/>
              </a:spcBef>
              <a:spcAft>
                <a:spcPts val="0"/>
              </a:spcAft>
              <a:buSzPts val="1440"/>
              <a:buChar char="◻"/>
            </a:pPr>
            <a:r>
              <a:rPr lang="en-US"/>
              <a:t>From Study Design and Data to Questionnaire</a:t>
            </a:r>
            <a:endParaRPr/>
          </a:p>
          <a:p>
            <a:pPr indent="-273050" lvl="1" marL="639763" rtl="0" algn="l">
              <a:spcBef>
                <a:spcPts val="550"/>
              </a:spcBef>
              <a:spcAft>
                <a:spcPts val="0"/>
              </a:spcAft>
              <a:buSzPts val="1400"/>
              <a:buChar char="🞑"/>
            </a:pPr>
            <a:r>
              <a:rPr lang="en-US"/>
              <a:t>Look at “Forte Hotel Data (Conjoint, 1 Ratings).xls</a:t>
            </a:r>
            <a:endParaRPr/>
          </a:p>
          <a:p>
            <a:pPr indent="-228600" lvl="2" marL="914400" rtl="0" algn="l">
              <a:spcBef>
                <a:spcPts val="500"/>
              </a:spcBef>
              <a:spcAft>
                <a:spcPts val="0"/>
              </a:spcAft>
              <a:buSzPts val="1500"/>
              <a:buChar char="■"/>
            </a:pPr>
            <a:r>
              <a:rPr lang="en-US"/>
              <a:t>Conjoint Study Design, Bundles, Respondent’s Ratings</a:t>
            </a:r>
            <a:endParaRPr/>
          </a:p>
          <a:p>
            <a:pPr indent="-273050" lvl="1" marL="639763" rtl="0" algn="l">
              <a:spcBef>
                <a:spcPts val="550"/>
              </a:spcBef>
              <a:spcAft>
                <a:spcPts val="0"/>
              </a:spcAft>
              <a:buSzPts val="1400"/>
              <a:buChar char="🞑"/>
            </a:pPr>
            <a:r>
              <a:rPr lang="en-US"/>
              <a:t>Assume you are a consultant and have collected the above data</a:t>
            </a:r>
            <a:endParaRPr/>
          </a:p>
          <a:p>
            <a:pPr indent="-273050" lvl="1" marL="639763" rtl="0" algn="l">
              <a:spcBef>
                <a:spcPts val="550"/>
              </a:spcBef>
              <a:spcAft>
                <a:spcPts val="0"/>
              </a:spcAft>
              <a:buSzPts val="1400"/>
              <a:buChar char="🞑"/>
            </a:pPr>
            <a:r>
              <a:rPr lang="en-US"/>
              <a:t>To get the above data, you should have developed a survey questionnaire.  How does it look like?  In other word, develop a questionnaire that will give you the above data.</a:t>
            </a:r>
            <a:endParaRPr/>
          </a:p>
          <a:p>
            <a:pPr indent="-184150" lvl="1" marL="63976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84150" lvl="1" marL="63976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1" marL="36671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Setup for R Conjoint Analysis</a:t>
            </a:r>
            <a:endParaRPr/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612648" y="1600200"/>
            <a:ext cx="8153400" cy="5416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9088" lvl="0" marL="319088" rtl="0" algn="l">
              <a:spcBef>
                <a:spcPts val="0"/>
              </a:spcBef>
              <a:spcAft>
                <a:spcPts val="0"/>
              </a:spcAft>
              <a:buSzPts val="1440"/>
              <a:buChar char="◻"/>
            </a:pPr>
            <a:r>
              <a:rPr lang="en-US"/>
              <a:t>Using “conjoint example2 tourist.R”</a:t>
            </a:r>
            <a:endParaRPr/>
          </a:p>
          <a:p>
            <a:pPr indent="-319088" lvl="0" marL="319088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/>
              <a:t>Identify four data sets in R (be careful with lowercase letters)</a:t>
            </a:r>
            <a:endParaRPr/>
          </a:p>
          <a:p>
            <a:pPr indent="-273050" lvl="1" marL="639763" rtl="0" algn="l">
              <a:spcBef>
                <a:spcPts val="550"/>
              </a:spcBef>
              <a:spcAft>
                <a:spcPts val="0"/>
              </a:spcAft>
              <a:buSzPts val="1400"/>
              <a:buChar char="🞑"/>
            </a:pPr>
            <a:r>
              <a:rPr lang="en-US"/>
              <a:t>journey_preferences.csv		journey_profiles.csv</a:t>
            </a:r>
            <a:endParaRPr/>
          </a:p>
          <a:p>
            <a:pPr indent="-273050" lvl="1" marL="639763" rtl="0" algn="l">
              <a:spcBef>
                <a:spcPts val="550"/>
              </a:spcBef>
              <a:spcAft>
                <a:spcPts val="0"/>
              </a:spcAft>
              <a:buSzPts val="1400"/>
              <a:buChar char="🞑"/>
            </a:pPr>
            <a:r>
              <a:rPr lang="en-US"/>
              <a:t>journey_levels.csv			journey_simulations.csv</a:t>
            </a:r>
            <a:endParaRPr/>
          </a:p>
          <a:p>
            <a:pPr indent="-319088" lvl="0" marL="319088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/>
              <a:t>Convert Forte Hotel Data to the above four data formats</a:t>
            </a:r>
            <a:endParaRPr/>
          </a:p>
          <a:p>
            <a:pPr indent="-273050" lvl="1" marL="639763" rtl="0" algn="l">
              <a:spcBef>
                <a:spcPts val="550"/>
              </a:spcBef>
              <a:spcAft>
                <a:spcPts val="0"/>
              </a:spcAft>
              <a:buSzPts val="1400"/>
              <a:buChar char="🞑"/>
            </a:pPr>
            <a:r>
              <a:rPr lang="en-US"/>
              <a:t>You SHOULD look at three Forte Hotel data carefully</a:t>
            </a:r>
            <a:endParaRPr/>
          </a:p>
          <a:p>
            <a:pPr indent="-228600" lvl="2" marL="914400" rtl="0" algn="l">
              <a:spcBef>
                <a:spcPts val="500"/>
              </a:spcBef>
              <a:spcAft>
                <a:spcPts val="0"/>
              </a:spcAft>
              <a:buSzPts val="1500"/>
              <a:buChar char="■"/>
            </a:pPr>
            <a:r>
              <a:rPr lang="en-US"/>
              <a:t>You need to convert those the original three data to four csv files used in R code.</a:t>
            </a:r>
            <a:endParaRPr/>
          </a:p>
          <a:p>
            <a:pPr indent="-228600" lvl="2" marL="914400" rtl="0" algn="l">
              <a:spcBef>
                <a:spcPts val="500"/>
              </a:spcBef>
              <a:spcAft>
                <a:spcPts val="0"/>
              </a:spcAft>
              <a:buSzPts val="1500"/>
              <a:buChar char="■"/>
            </a:pPr>
            <a:r>
              <a:rPr lang="en-US"/>
              <a:t>Convert to regular csv files instead of semi-colon (;) separated value files</a:t>
            </a:r>
            <a:endParaRPr/>
          </a:p>
          <a:p>
            <a:pPr indent="0" lvl="1" marL="36671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84150" lvl="1" marL="63976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1" marL="36671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Analysis</a:t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612648" y="1600200"/>
            <a:ext cx="8153400" cy="3577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9088" lvl="0" marL="319088" rtl="0" algn="l">
              <a:spcBef>
                <a:spcPts val="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Part-worth Utility and Total Utility of 40 respondents</a:t>
            </a:r>
            <a:endParaRPr/>
          </a:p>
          <a:p>
            <a:pPr indent="-319088" lvl="0" marL="319088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What is the most preferred profile (bundle) for respondent, Nissa</a:t>
            </a:r>
            <a:endParaRPr sz="2000"/>
          </a:p>
          <a:p>
            <a:pPr indent="-319088" lvl="0" marL="319088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Run analysis using a package, conjoint</a:t>
            </a:r>
            <a:endParaRPr/>
          </a:p>
          <a:p>
            <a:pPr indent="-319088" lvl="0" marL="319088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Run segmentation analysis based on conjoint results (two segments)</a:t>
            </a:r>
            <a:endParaRPr/>
          </a:p>
          <a:p>
            <a:pPr indent="-273049" lvl="1" marL="639763" rtl="0" algn="l">
              <a:spcBef>
                <a:spcPts val="550"/>
              </a:spcBef>
              <a:spcAft>
                <a:spcPts val="0"/>
              </a:spcAft>
              <a:buSzPts val="1120"/>
              <a:buChar char="🞑"/>
            </a:pPr>
            <a:r>
              <a:rPr lang="en-US" sz="1600"/>
              <a:t>Include plots</a:t>
            </a:r>
            <a:endParaRPr/>
          </a:p>
          <a:p>
            <a:pPr indent="-273049" lvl="1" marL="639763" rtl="0" algn="l">
              <a:spcBef>
                <a:spcPts val="550"/>
              </a:spcBef>
              <a:spcAft>
                <a:spcPts val="0"/>
              </a:spcAft>
              <a:buSzPts val="1120"/>
              <a:buChar char="🞑"/>
            </a:pPr>
            <a:r>
              <a:rPr lang="en-US" sz="1600"/>
              <a:t>Write segment member information to data set (preference data) using R code</a:t>
            </a:r>
            <a:endParaRPr/>
          </a:p>
          <a:p>
            <a:pPr indent="-201929" lvl="1" marL="639763" rtl="0" algn="l">
              <a:spcBef>
                <a:spcPts val="550"/>
              </a:spcBef>
              <a:spcAft>
                <a:spcPts val="0"/>
              </a:spcAft>
              <a:buSzPts val="1120"/>
              <a:buNone/>
            </a:pPr>
            <a:r>
              <a:t/>
            </a:r>
            <a:endParaRPr sz="1600"/>
          </a:p>
          <a:p>
            <a:pPr indent="-201929" lvl="1" marL="639763" rtl="0" algn="l">
              <a:spcBef>
                <a:spcPts val="550"/>
              </a:spcBef>
              <a:spcAft>
                <a:spcPts val="0"/>
              </a:spcAft>
              <a:buSzPts val="1120"/>
              <a:buNone/>
            </a:pPr>
            <a:r>
              <a:t/>
            </a:r>
            <a:endParaRPr sz="1600"/>
          </a:p>
          <a:p>
            <a:pPr indent="-184150" lvl="1" marL="63976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Market Share Simulation</a:t>
            </a:r>
            <a:endParaRPr/>
          </a:p>
        </p:txBody>
      </p:sp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612648" y="1600200"/>
            <a:ext cx="8153400" cy="504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9088" lvl="0" marL="319088" rtl="0" algn="l">
              <a:spcBef>
                <a:spcPts val="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Look at the </a:t>
            </a:r>
            <a:r>
              <a:rPr lang="en-US" sz="2000">
                <a:solidFill>
                  <a:srgbClr val="C00000"/>
                </a:solidFill>
              </a:rPr>
              <a:t>Forte Hotel Data (Conjoint, 3 Analysis).xls</a:t>
            </a:r>
            <a:endParaRPr/>
          </a:p>
          <a:p>
            <a:pPr indent="-319088" lvl="0" marL="319088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Find Existing Product Profiles and New Product Profiles</a:t>
            </a:r>
            <a:endParaRPr/>
          </a:p>
          <a:p>
            <a:pPr indent="-319088" lvl="0" marL="319088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Convert these two sets of profiles into profile files for R analysis</a:t>
            </a:r>
            <a:endParaRPr/>
          </a:p>
          <a:p>
            <a:pPr indent="-273049" lvl="1" marL="639763" rtl="0" algn="l">
              <a:spcBef>
                <a:spcPts val="550"/>
              </a:spcBef>
              <a:spcAft>
                <a:spcPts val="0"/>
              </a:spcAft>
              <a:buSzPts val="1120"/>
              <a:buChar char="🞑"/>
            </a:pPr>
            <a:r>
              <a:rPr lang="en-US" sz="1600"/>
              <a:t>Refer to “journey_simulations.csv” file</a:t>
            </a:r>
            <a:endParaRPr/>
          </a:p>
          <a:p>
            <a:pPr indent="-319088" lvl="0" marL="319088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Show the simulation results: one for existing profiles and other for new product files</a:t>
            </a:r>
            <a:endParaRPr/>
          </a:p>
          <a:p>
            <a:pPr indent="-319088" lvl="0" marL="319088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Interpret</a:t>
            </a:r>
            <a:endParaRPr/>
          </a:p>
          <a:p>
            <a:pPr indent="-242888" lvl="0" marL="319088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-319088" lvl="0" marL="319088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If simulation part of conjoint package is giving you errors, then you can still get the total utility of profiles in the simulation using part-worth utility.  Then you can calculate estimated market shares for profiles considered.</a:t>
            </a:r>
            <a:endParaRPr sz="1600"/>
          </a:p>
          <a:p>
            <a:pPr indent="-201929" lvl="1" marL="639763" rtl="0" algn="l">
              <a:spcBef>
                <a:spcPts val="550"/>
              </a:spcBef>
              <a:spcAft>
                <a:spcPts val="0"/>
              </a:spcAft>
              <a:buSzPts val="1120"/>
              <a:buNone/>
            </a:pPr>
            <a:r>
              <a:t/>
            </a:r>
            <a:endParaRPr sz="1600"/>
          </a:p>
          <a:p>
            <a:pPr indent="-184150" lvl="1" marL="63976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Market Share Analysis</a:t>
            </a:r>
            <a:endParaRPr/>
          </a:p>
        </p:txBody>
      </p:sp>
      <p:graphicFrame>
        <p:nvGraphicFramePr>
          <p:cNvPr id="171" name="Google Shape;171;p23"/>
          <p:cNvGraphicFramePr/>
          <p:nvPr/>
        </p:nvGraphicFramePr>
        <p:xfrm>
          <a:off x="990602" y="1524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{D194A074-A34F-4530-AB18-F1466E46EB84}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2016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Existing Product Profiles</a:t>
                      </a:r>
                      <a:endParaRPr b="1" i="1" sz="1200" u="none" cap="none" strike="noStrike">
                        <a:solidFill>
                          <a:srgbClr val="3366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</a:tr>
              <a:tr h="149025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Labels and attribute levels for each existing product profile that already exists in the market.</a:t>
                      </a:r>
                      <a:endParaRPr b="1" i="0" sz="1000" u="none" cap="none" strike="noStrike">
                        <a:solidFill>
                          <a:srgbClr val="96969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</a:tr>
              <a:tr h="32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Attributes / Existing Product Profiles</a:t>
                      </a:r>
                      <a:endParaRPr b="1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Courtyard by Marriott</a:t>
                      </a:r>
                      <a:endParaRPr b="1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Nittany Lion Inn</a:t>
                      </a:r>
                      <a:endParaRPr b="1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Atherton Hilton</a:t>
                      </a:r>
                      <a:endParaRPr b="1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Toftrees</a:t>
                      </a:r>
                      <a:endParaRPr b="1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Scanticon</a:t>
                      </a:r>
                      <a:endParaRPr b="1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  <a:tr h="32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Room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Small Suite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Large Room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Large Room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Small Suite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Room Office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  <a:tr h="32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Bus Amenities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Speaker phone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Speaker phone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Speaker phone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Speaker phone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Room fax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  <a:tr h="32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Leisure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Exercise room + Pool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Exercise room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Exercise room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Exercise room + Pool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Exercise room + Pool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  <a:tr h="32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Extras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Newspaper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Newspaper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Tape library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Newspaper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Shoe shine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  <a:tr h="32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Rest Delivery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Yes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Yes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No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No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Yes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</a:tbl>
          </a:graphicData>
        </a:graphic>
      </p:graphicFrame>
      <p:graphicFrame>
        <p:nvGraphicFramePr>
          <p:cNvPr id="172" name="Google Shape;172;p23"/>
          <p:cNvGraphicFramePr/>
          <p:nvPr/>
        </p:nvGraphicFramePr>
        <p:xfrm>
          <a:off x="2133600" y="4125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{D194A074-A34F-4530-AB18-F1466E46EB84}</a:tableStyleId>
              </a:tblPr>
              <a:tblGrid>
                <a:gridCol w="994600"/>
                <a:gridCol w="994600"/>
                <a:gridCol w="994600"/>
                <a:gridCol w="994600"/>
                <a:gridCol w="994600"/>
              </a:tblGrid>
              <a:tr h="2145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New Product Profiles</a:t>
                      </a:r>
                      <a:endParaRPr b="1" i="1" sz="1200" u="none" cap="none" strike="noStrike">
                        <a:solidFill>
                          <a:srgbClr val="3366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</a:tr>
              <a:tr h="15445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000" u="none" cap="none" strike="noStrike">
                        <a:solidFill>
                          <a:srgbClr val="96969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b"/>
                </a:tc>
                <a:tc hMerge="1"/>
                <a:tc hMerge="1"/>
                <a:tc hMerge="1"/>
                <a:tc hMerge="1"/>
              </a:tr>
              <a:tr h="34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Attributes / New Product Profiles</a:t>
                      </a:r>
                      <a:endParaRPr b="1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Professional 1</a:t>
                      </a:r>
                      <a:endParaRPr b="1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Professional 2</a:t>
                      </a:r>
                      <a:endParaRPr b="1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Tourist</a:t>
                      </a:r>
                      <a:endParaRPr b="1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Deluxe</a:t>
                      </a:r>
                      <a:endParaRPr b="1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  <a:tr h="34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Room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Room Office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Small Suite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Large Room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Large Room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  <a:tr h="34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Bus Amenities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Internet access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Room fax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Speaker phone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Internet access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  <a:tr h="34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Leisure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Exercise room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Exercise room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Exercise room + Pool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Exercise room + Pool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  <a:tr h="34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Extras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Fruit and cheese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Tape library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Tape library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Tape library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  <a:tr h="34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Rest Delivery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No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Yes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No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Yes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0" marB="0" marR="6850" marL="68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Files to submit</a:t>
            </a:r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612648" y="1600200"/>
            <a:ext cx="8153400" cy="393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9088" lvl="0" marL="319088" rtl="0" algn="l">
              <a:spcBef>
                <a:spcPts val="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When you submit your project, use the following format</a:t>
            </a:r>
            <a:endParaRPr/>
          </a:p>
          <a:p>
            <a:pPr indent="-273050" lvl="1" marL="639763" rtl="0" algn="l">
              <a:spcBef>
                <a:spcPts val="550"/>
              </a:spcBef>
              <a:spcAft>
                <a:spcPts val="0"/>
              </a:spcAft>
              <a:buSzPts val="1400"/>
              <a:buChar char="🞑"/>
            </a:pPr>
            <a:r>
              <a:rPr lang="en-US"/>
              <a:t>Lastname_Firstname_project</a:t>
            </a:r>
            <a:r>
              <a:rPr lang="en-US">
                <a:solidFill>
                  <a:srgbClr val="FF0000"/>
                </a:solidFill>
              </a:rPr>
              <a:t>Report</a:t>
            </a:r>
            <a:r>
              <a:rPr lang="en-US"/>
              <a:t>.docx (html)</a:t>
            </a:r>
            <a:endParaRPr/>
          </a:p>
          <a:p>
            <a:pPr indent="-273050" lvl="1" marL="639763" rtl="0" algn="l">
              <a:spcBef>
                <a:spcPts val="550"/>
              </a:spcBef>
              <a:spcAft>
                <a:spcPts val="0"/>
              </a:spcAft>
              <a:buSzPts val="1400"/>
              <a:buChar char="🞑"/>
            </a:pPr>
            <a:r>
              <a:rPr lang="en-US"/>
              <a:t>Lastname_Firstname_project</a:t>
            </a:r>
            <a:r>
              <a:rPr lang="en-US">
                <a:solidFill>
                  <a:srgbClr val="FF0000"/>
                </a:solidFill>
              </a:rPr>
              <a:t>Presentation</a:t>
            </a:r>
            <a:r>
              <a:rPr lang="en-US"/>
              <a:t>.ppt (pptx)</a:t>
            </a:r>
            <a:endParaRPr/>
          </a:p>
          <a:p>
            <a:pPr indent="-184150" lvl="1" marL="63976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73050" lvl="1" marL="639763" rtl="0" algn="l">
              <a:spcBef>
                <a:spcPts val="550"/>
              </a:spcBef>
              <a:spcAft>
                <a:spcPts val="0"/>
              </a:spcAft>
              <a:buSzPts val="1400"/>
              <a:buChar char="🞑"/>
            </a:pPr>
            <a:r>
              <a:rPr lang="en-US"/>
              <a:t>Your interpretation of output and results should be included</a:t>
            </a:r>
            <a:endParaRPr/>
          </a:p>
          <a:p>
            <a:pPr indent="-273050" lvl="1" marL="639763" rtl="0" algn="l">
              <a:spcBef>
                <a:spcPts val="550"/>
              </a:spcBef>
              <a:spcAft>
                <a:spcPts val="0"/>
              </a:spcAft>
              <a:buSzPts val="1400"/>
              <a:buChar char="🞑"/>
            </a:pPr>
            <a:r>
              <a:rPr lang="en-US"/>
              <a:t>You can include your voice recording into MS Power point slides</a:t>
            </a:r>
            <a:endParaRPr/>
          </a:p>
          <a:p>
            <a:pPr indent="-184150" lvl="1" marL="63976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84150" lvl="1" marL="63976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84150" lvl="1" marL="639763" rtl="0" algn="l">
              <a:spcBef>
                <a:spcPts val="5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 xmlns:r="http://schemas.openxmlformats.org/officeDocument/2006/relationships">
  <a:clrScheme name="Median">
    <a:dk1>
      <a:srgbClr val="000000"/>
    </a:dk1>
    <a:lt1>
      <a:srgbClr val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